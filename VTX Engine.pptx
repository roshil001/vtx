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B35B-15DF-1563-E1E6-3845FCA76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E6EE55-FF90-A823-16A1-6F6450F8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645E6-E02A-630E-9E35-B5509852492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D67CFF2-04C4-D152-4B8C-AFED00A05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12CE-DCE2-96EF-7CEE-8E5D563EEC9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01681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6BCA-7DA4-AC5D-DB5B-BF00F775E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A1BD7-71AC-9349-A609-C51E816F4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B6FAA-61B0-77BB-CEF0-F1CF07A34D69}"/>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2396C92B-15E0-3E8F-AD28-102BD8E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FF385-A966-EA8E-0ECE-49D772CAFE8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5221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8E79-18B3-6824-A352-5DD67F9E0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F9A1D8-509A-42D0-50B0-76D2447C33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07469-EB53-4791-3819-CB948CDA0E83}"/>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4CB43A63-86B2-56C2-146C-375C09EF7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B58CA-558F-0BA3-2E77-81074CAA5A7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44576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20D9-4F99-6D14-D995-CAA15D3F8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599739-08A2-9366-52EB-7D3C17D39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E9B05-C5F0-60AB-4006-D800F2FCB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5333-A7F4-9901-56FD-ACDD167DEB4D}"/>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07A76C3F-6B03-39CA-5636-A61F11DF6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F9D20D-CA3D-5E6B-0E76-D97F909C1A6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41379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7F43-199E-9BCE-4D50-8954E0BE8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944D7-22FF-36E1-07F6-22B641C1A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D578C-0C27-36FD-D472-D82FECC0B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7E7AE5-1AAE-E65C-8B3C-DFFEBDDFC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FE1B1-3F36-0693-EC88-BD4DD6BA76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BC6DC3-E138-7203-3032-7A1B1C8F72CB}"/>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8" name="Footer Placeholder 7">
            <a:extLst>
              <a:ext uri="{FF2B5EF4-FFF2-40B4-BE49-F238E27FC236}">
                <a16:creationId xmlns:a16="http://schemas.microsoft.com/office/drawing/2014/main" id="{04CA86E1-47F6-C489-4161-38C1E5B295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72C850-8984-D4A3-A7DE-A2403DF600F5}"/>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2312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10CE-4398-0C10-BE9E-9D6A4199D1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E4C36B-338F-4187-B505-9F3CCC6AA265}"/>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4" name="Footer Placeholder 3">
            <a:extLst>
              <a:ext uri="{FF2B5EF4-FFF2-40B4-BE49-F238E27FC236}">
                <a16:creationId xmlns:a16="http://schemas.microsoft.com/office/drawing/2014/main" id="{DC00D226-7EC5-6E85-9BBB-1CCA90967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ED67B-ACA7-C075-7748-E1BB773FAA8D}"/>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7529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109B3-7EF0-CD32-1BFA-5328B75A014E}"/>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3" name="Footer Placeholder 2">
            <a:extLst>
              <a:ext uri="{FF2B5EF4-FFF2-40B4-BE49-F238E27FC236}">
                <a16:creationId xmlns:a16="http://schemas.microsoft.com/office/drawing/2014/main" id="{5FEA2E8F-C387-572C-CD62-8CF7A66F6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D60C2C-1F2B-51AB-C9F8-19DB99925E1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645619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6AEC-9BA0-FC55-91D9-596305A8DE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FD214-E3F2-EEB2-2959-022E2A6FF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20B84B-ADF1-B398-7318-B2C5B1F95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FB36-A21B-414B-9428-9E72946DE6B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C1F86F34-1B4B-6F27-5041-44614842D3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251D5-4BB1-F69B-6B1F-7E84E1620B4F}"/>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4267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2E39-BD9F-5C3C-D08A-AB8A6285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602E83-9BBB-546C-6579-DB768999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681896-3FD0-751E-CB7B-EA1C04BD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8E466-427F-63B4-ED25-284497B2E737}"/>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EB59ABBE-94A1-F6B9-10C0-40671AE59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4366-3637-7934-0DF7-A5830FB116EB}"/>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4385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C403-1CBB-80EC-73A8-3EDB4CFC9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964E7E-9512-F79C-3FD5-4EBFF865A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D681-3469-5E46-6E8F-BB3E5942BC78}"/>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C24237A4-C073-9A53-503A-8B3D7CE9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E962-73F4-EA2D-AED4-1273FAF7640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27557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782872-BD1F-5FE4-6E63-AD318388E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1EE48-43E8-58C9-147D-9441A5177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5C8A8-3FED-5156-3D67-A68A70FF666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DF18C20D-3E76-6CC2-EA7D-E05C92D04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1B5D8-51DD-5D53-BABF-6B8E5E54861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76470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0BA52-6A8D-EDB3-CBD0-0AAD804F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28725-ED4F-0BC9-E489-8DF39A73F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81F21-289C-BD44-047B-155F9FB9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37B1A81-041A-5B2C-CADF-7173BB18D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89948D-7CCA-4327-C4DE-AA33A24A4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BF9F6-EF0C-42F6-AD23-B39F56094C11}" type="slidenum">
              <a:rPr lang="en-IN" smtClean="0"/>
              <a:t>‹#›</a:t>
            </a:fld>
            <a:endParaRPr lang="en-IN"/>
          </a:p>
        </p:txBody>
      </p:sp>
    </p:spTree>
    <p:extLst>
      <p:ext uri="{BB962C8B-B14F-4D97-AF65-F5344CB8AC3E}">
        <p14:creationId xmlns:p14="http://schemas.microsoft.com/office/powerpoint/2010/main" val="2650676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FA9D-AA8C-183A-340F-4284C2533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00F163-E7FA-1B2C-D5E0-4ABC6D628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BD2B560-468C-AE00-FD08-190FAA9C2CD5}"/>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Title</a:t>
            </a:r>
          </a:p>
        </p:txBody>
      </p:sp>
      <p:sp>
        <p:nvSpPr>
          <p:cNvPr id="6" name="Rectangle 2">
            <a:extLst>
              <a:ext uri="{FF2B5EF4-FFF2-40B4-BE49-F238E27FC236}">
                <a16:creationId xmlns:a16="http://schemas.microsoft.com/office/drawing/2014/main" id="{B88AD9CD-CFB0-97F2-617B-EF1420132690}"/>
              </a:ext>
            </a:extLst>
          </p:cNvPr>
          <p:cNvSpPr>
            <a:spLocks noGrp="1" noChangeArrowheads="1"/>
          </p:cNvSpPr>
          <p:nvPr>
            <p:ph type="subTitle" idx="1"/>
          </p:nvPr>
        </p:nvSpPr>
        <p:spPr bwMode="auto">
          <a:xfrm>
            <a:off x="1524000" y="3552756"/>
            <a:ext cx="722781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Project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a:latin typeface="Open sans" panose="020B0606030504020204" pitchFamily="34" charset="0"/>
                <a:ea typeface="Open sans" panose="020B0606030504020204" pitchFamily="34" charset="0"/>
                <a:cs typeface="Open sans" panose="020B0606030504020204" pitchFamily="34" charset="0"/>
              </a:rPr>
              <a:t>VTX ENGINE</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Tagline:</a:t>
            </a:r>
            <a:r>
              <a:rPr lang="en-US" altLang="en-US" sz="1800" dirty="0">
                <a:latin typeface="Open sans" panose="020B0606030504020204" pitchFamily="34" charset="0"/>
                <a:ea typeface="Open sans" panose="020B0606030504020204" pitchFamily="34" charset="0"/>
                <a:cs typeface="Open sans" panose="020B0606030504020204" pitchFamily="34" charset="0"/>
              </a:rPr>
              <a:t> Deepfake Detection and Email Fraud Detection System</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Team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a:latin typeface="Open sans" panose="020B0606030504020204" pitchFamily="34" charset="0"/>
                <a:ea typeface="Open sans" panose="020B0606030504020204" pitchFamily="34" charset="0"/>
                <a:cs typeface="Open sans" panose="020B0606030504020204" pitchFamily="34" charset="0"/>
              </a:rPr>
              <a:t>VTX</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Event:</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DevCraft: Simon’s Command Line (or your event name)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a:t>
            </a:r>
            <a:r>
              <a:rPr lang="en-US" altLang="en-US" sz="1800" dirty="0">
                <a:latin typeface="Open sans" panose="020B0606030504020204" pitchFamily="34" charset="0"/>
                <a:ea typeface="Open sans" panose="020B0606030504020204" pitchFamily="34" charset="0"/>
                <a:cs typeface="Open sans" panose="020B0606030504020204" pitchFamily="34" charset="0"/>
              </a:rPr>
              <a:t>: 06/04/2026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Open sans" panose="020B0606030504020204" pitchFamily="34" charset="0"/>
                <a:ea typeface="Open sans" panose="020B0606030504020204" pitchFamily="34" charset="0"/>
                <a:cs typeface="Open sans" panose="020B0606030504020204" pitchFamily="34" charset="0"/>
              </a:rPr>
              <a:t>Domain: </a:t>
            </a:r>
            <a:r>
              <a:rPr lang="en-US" altLang="en-US" sz="1800" dirty="0">
                <a:latin typeface="Open sans" panose="020B0606030504020204" pitchFamily="34" charset="0"/>
                <a:ea typeface="Open sans" panose="020B0606030504020204" pitchFamily="34" charset="0"/>
                <a:cs typeface="Open sans" panose="020B0606030504020204" pitchFamily="34" charset="0"/>
              </a:rPr>
              <a:t>Cyber Security</a:t>
            </a:r>
            <a:endParaRPr kumimoji="0" lang="en-US" altLang="en-US" sz="18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993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8B3B-0FDC-937D-B730-D2DCFE2DB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4A0CE-87ED-FA30-F1CA-9ABEA2411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7E70B9-3D8E-AC8C-FD71-33A8999FB4B9}"/>
              </a:ext>
            </a:extLst>
          </p:cNvPr>
          <p:cNvSpPr>
            <a:spLocks noGrp="1"/>
          </p:cNvSpPr>
          <p:nvPr>
            <p:ph type="ctrTitle"/>
          </p:nvPr>
        </p:nvSpPr>
        <p:spPr>
          <a:xfrm>
            <a:off x="1602658" y="880586"/>
            <a:ext cx="9144000" cy="1439228"/>
          </a:xfrm>
        </p:spPr>
        <p:txBody>
          <a:bodyPr/>
          <a:lstStyle/>
          <a:p>
            <a:r>
              <a:rPr lang="en-IN" b="1" dirty="0">
                <a:latin typeface="Montserrat" panose="00000500000000000000" pitchFamily="2" charset="0"/>
              </a:rPr>
              <a:t>Problem Statement</a:t>
            </a:r>
          </a:p>
        </p:txBody>
      </p:sp>
      <p:sp>
        <p:nvSpPr>
          <p:cNvPr id="3" name="Subtitle 2">
            <a:extLst>
              <a:ext uri="{FF2B5EF4-FFF2-40B4-BE49-F238E27FC236}">
                <a16:creationId xmlns:a16="http://schemas.microsoft.com/office/drawing/2014/main" id="{F76C42E2-B03A-1F39-A18A-616A4BA0320A}"/>
              </a:ext>
            </a:extLst>
          </p:cNvPr>
          <p:cNvSpPr>
            <a:spLocks noGrp="1"/>
          </p:cNvSpPr>
          <p:nvPr>
            <p:ph type="subTitle" idx="1"/>
          </p:nvPr>
        </p:nvSpPr>
        <p:spPr>
          <a:xfrm>
            <a:off x="1524000" y="3021934"/>
            <a:ext cx="9144000" cy="1655762"/>
          </a:xfrm>
        </p:spPr>
        <p:txBody>
          <a:bodyPr>
            <a:noAutofit/>
          </a:bodyPr>
          <a:lstStyle/>
          <a:p>
            <a:r>
              <a:rPr lang="en-US" dirty="0"/>
              <a:t>In 2026, cyber-adversaries are no longer relying on a single attack vector. They are orchestrating </a:t>
            </a:r>
            <a:r>
              <a:rPr lang="en-US" b="1" dirty="0"/>
              <a:t>Hybrid Phishing</a:t>
            </a:r>
            <a:r>
              <a:rPr lang="en-US" dirty="0"/>
              <a:t> attacks where AI-generated 'Deepfake' media is used to establish visual trust, followed by sophisticated 'Business Email Compromise' (BEC) to execute fraud. Existing security tools are siloed—they either check for malware or basic spam—leaving a massive 'Forensic Gap' where synthetic media and social engineering go undetected, costing global enterprises billions in unauthorized transfers and data breaches.</a:t>
            </a:r>
            <a:endParaRPr lang="en-IN" dirty="0"/>
          </a:p>
        </p:txBody>
      </p:sp>
    </p:spTree>
    <p:extLst>
      <p:ext uri="{BB962C8B-B14F-4D97-AF65-F5344CB8AC3E}">
        <p14:creationId xmlns:p14="http://schemas.microsoft.com/office/powerpoint/2010/main" val="342013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82DC-8B8F-5773-F3B9-0B382CCDC7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D13157-B955-921F-107B-76F8794C0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BE8F45-6E88-24FC-6BE1-2BF874E6C8E3}"/>
              </a:ext>
            </a:extLst>
          </p:cNvPr>
          <p:cNvSpPr>
            <a:spLocks noGrp="1"/>
          </p:cNvSpPr>
          <p:nvPr>
            <p:ph type="ctrTitle"/>
          </p:nvPr>
        </p:nvSpPr>
        <p:spPr>
          <a:xfrm>
            <a:off x="1524000" y="845574"/>
            <a:ext cx="9144000" cy="1328615"/>
          </a:xfrm>
        </p:spPr>
        <p:txBody>
          <a:bodyPr/>
          <a:lstStyle/>
          <a:p>
            <a:r>
              <a:rPr lang="en-IN" b="1" dirty="0">
                <a:latin typeface="Montserrat" panose="00000500000000000000" pitchFamily="2" charset="0"/>
              </a:rPr>
              <a:t>Target Audience</a:t>
            </a:r>
          </a:p>
        </p:txBody>
      </p:sp>
      <p:sp>
        <p:nvSpPr>
          <p:cNvPr id="6" name="Rectangle 2">
            <a:extLst>
              <a:ext uri="{FF2B5EF4-FFF2-40B4-BE49-F238E27FC236}">
                <a16:creationId xmlns:a16="http://schemas.microsoft.com/office/drawing/2014/main" id="{883066D4-77AC-CD20-66BF-B8E2A39DAFEA}"/>
              </a:ext>
            </a:extLst>
          </p:cNvPr>
          <p:cNvSpPr>
            <a:spLocks noGrp="1" noChangeArrowheads="1"/>
          </p:cNvSpPr>
          <p:nvPr>
            <p:ph type="subTitle" idx="1"/>
          </p:nvPr>
        </p:nvSpPr>
        <p:spPr bwMode="auto">
          <a:xfrm>
            <a:off x="776747" y="2487912"/>
            <a:ext cx="10412361"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F1F1F"/>
                </a:solidFill>
                <a:effectLst/>
                <a:latin typeface="Google Sans Text"/>
              </a:rPr>
              <a:t>VTX is a unified cybersecurity forensic suite designed to bridge the critical detection gap in modern digital communication, where AI-generated media and sophisticated social engineering have rendered traditional security measures obsolete. By integrating a hybrid defense architecture, the platform utilizes </a:t>
            </a:r>
            <a:r>
              <a:rPr kumimoji="0" lang="en-US" altLang="en-US" sz="2000" b="1" i="0" u="none" strike="noStrike" cap="none" normalizeH="0" baseline="0" dirty="0">
                <a:ln>
                  <a:noFill/>
                </a:ln>
                <a:solidFill>
                  <a:srgbClr val="1F1F1F"/>
                </a:solidFill>
                <a:effectLst/>
                <a:latin typeface="Google Sans Text"/>
              </a:rPr>
              <a:t>Fast Fourier Transform (FFT)</a:t>
            </a:r>
            <a:r>
              <a:rPr kumimoji="0" lang="en-US" altLang="en-US" sz="2000" b="0" i="0" u="none" strike="noStrike" cap="none" normalizeH="0" baseline="0" dirty="0">
                <a:ln>
                  <a:noFill/>
                </a:ln>
                <a:solidFill>
                  <a:srgbClr val="1F1F1F"/>
                </a:solidFill>
                <a:effectLst/>
                <a:latin typeface="Google Sans Text"/>
              </a:rPr>
              <a:t> to expose the mathematical spectral "fingerprints" invisible to the human eye in deepfake media, while simultaneously leveraging the </a:t>
            </a:r>
            <a:r>
              <a:rPr kumimoji="0" lang="en-US" altLang="en-US" sz="2000" b="1" i="0" u="none" strike="noStrike" cap="none" normalizeH="0" baseline="0" dirty="0">
                <a:ln>
                  <a:noFill/>
                </a:ln>
                <a:solidFill>
                  <a:srgbClr val="1F1F1F"/>
                </a:solidFill>
                <a:effectLst/>
                <a:latin typeface="Google Sans Text"/>
              </a:rPr>
              <a:t>Gemini API</a:t>
            </a:r>
            <a:r>
              <a:rPr kumimoji="0" lang="en-US" altLang="en-US" sz="2000" b="0" i="0" u="none" strike="noStrike" cap="none" normalizeH="0" baseline="0" dirty="0">
                <a:ln>
                  <a:noFill/>
                </a:ln>
                <a:solidFill>
                  <a:srgbClr val="1F1F1F"/>
                </a:solidFill>
                <a:effectLst/>
                <a:latin typeface="Google Sans Text"/>
              </a:rPr>
              <a:t> to perform deep linguistic analysis on corporate emails to detect fraud and Business Email Compromise (BEC). Targeting Corporate Security Operations (SOCs), digital forensic investigators, and media organizations, VTX provides a scalable, zero-trust solution that validates identity through both visual evidence and contextual intent, effectively defending the "human element" against the rising tide of 2026’s multimodal cyber threats.</a:t>
            </a:r>
          </a:p>
        </p:txBody>
      </p:sp>
    </p:spTree>
    <p:extLst>
      <p:ext uri="{BB962C8B-B14F-4D97-AF65-F5344CB8AC3E}">
        <p14:creationId xmlns:p14="http://schemas.microsoft.com/office/powerpoint/2010/main" val="36573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0F17-D71F-4E5D-8264-47A9F6A268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68430-CC32-D06A-B654-DB3AF9A53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4DFB8E-8883-9ACA-6E6F-AA08D471DCDE}"/>
              </a:ext>
            </a:extLst>
          </p:cNvPr>
          <p:cNvSpPr>
            <a:spLocks noGrp="1"/>
          </p:cNvSpPr>
          <p:nvPr>
            <p:ph type="ctrTitle"/>
          </p:nvPr>
        </p:nvSpPr>
        <p:spPr>
          <a:xfrm>
            <a:off x="1524000" y="1081405"/>
            <a:ext cx="9144000" cy="1037590"/>
          </a:xfrm>
        </p:spPr>
        <p:txBody>
          <a:bodyPr/>
          <a:lstStyle/>
          <a:p>
            <a:r>
              <a:rPr lang="en-IN" b="1" dirty="0">
                <a:latin typeface="Montserrat" panose="00000500000000000000" pitchFamily="2" charset="0"/>
              </a:rPr>
              <a:t>Existing Solutions</a:t>
            </a:r>
          </a:p>
        </p:txBody>
      </p:sp>
      <p:sp>
        <p:nvSpPr>
          <p:cNvPr id="3" name="Subtitle 2">
            <a:extLst>
              <a:ext uri="{FF2B5EF4-FFF2-40B4-BE49-F238E27FC236}">
                <a16:creationId xmlns:a16="http://schemas.microsoft.com/office/drawing/2014/main" id="{46632734-F5D3-955D-986B-0A58CBD1BA3C}"/>
              </a:ext>
            </a:extLst>
          </p:cNvPr>
          <p:cNvSpPr>
            <a:spLocks noGrp="1"/>
          </p:cNvSpPr>
          <p:nvPr>
            <p:ph type="subTitle" idx="1"/>
          </p:nvPr>
        </p:nvSpPr>
        <p:spPr>
          <a:xfrm>
            <a:off x="1524000" y="2581112"/>
            <a:ext cx="9144000" cy="3195483"/>
          </a:xfrm>
        </p:spPr>
        <p:txBody>
          <a:bodyPr>
            <a:noAutofit/>
          </a:bodyPr>
          <a:lstStyle/>
          <a:p>
            <a:r>
              <a:rPr lang="en-US" dirty="0"/>
              <a:t>Existing solutions are currently fragmented into three limited categories: </a:t>
            </a:r>
            <a:r>
              <a:rPr lang="en-US" b="1" dirty="0"/>
              <a:t>Secure Email Gateways</a:t>
            </a:r>
            <a:r>
              <a:rPr lang="en-US" dirty="0"/>
              <a:t> (like Proofpoint), which catch malware but fail against text-based social engineering; </a:t>
            </a:r>
            <a:r>
              <a:rPr lang="en-US" b="1" dirty="0"/>
              <a:t>AI Detectors</a:t>
            </a:r>
            <a:r>
              <a:rPr lang="en-US" dirty="0"/>
              <a:t> (like </a:t>
            </a:r>
            <a:r>
              <a:rPr lang="en-US" dirty="0" err="1"/>
              <a:t>RealityDefender</a:t>
            </a:r>
            <a:r>
              <a:rPr lang="en-US" dirty="0"/>
              <a:t>), which provide "black-box" scores without explainable evidence; and </a:t>
            </a:r>
            <a:r>
              <a:rPr lang="en-US" b="1" dirty="0"/>
              <a:t>Manual Forensic Tools</a:t>
            </a:r>
            <a:r>
              <a:rPr lang="en-US" dirty="0"/>
              <a:t>, which are highly accurate but too slow and technical for real-time corporate use. VTX bridges these gaps by combining </a:t>
            </a:r>
            <a:r>
              <a:rPr lang="en-US" b="1" dirty="0"/>
              <a:t>Explainable Math (FFT)</a:t>
            </a:r>
            <a:r>
              <a:rPr lang="en-US" dirty="0"/>
              <a:t> with </a:t>
            </a:r>
            <a:r>
              <a:rPr lang="en-US" b="1" dirty="0"/>
              <a:t>Contextual Intelligence (Gemini API)</a:t>
            </a:r>
            <a:r>
              <a:rPr lang="en-US" dirty="0"/>
              <a:t>, offering a unified, scalable suite that verifies both visual and linguistic identity in a single workflow.</a:t>
            </a:r>
          </a:p>
        </p:txBody>
      </p:sp>
    </p:spTree>
    <p:extLst>
      <p:ext uri="{BB962C8B-B14F-4D97-AF65-F5344CB8AC3E}">
        <p14:creationId xmlns:p14="http://schemas.microsoft.com/office/powerpoint/2010/main" val="236141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8092-3A14-DA37-5C79-FFB96B58F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6E1A02-DDF7-89F3-98B0-23412617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B15C0A3-67F8-05CD-6B78-1C156A8A830D}"/>
              </a:ext>
            </a:extLst>
          </p:cNvPr>
          <p:cNvSpPr>
            <a:spLocks noGrp="1"/>
          </p:cNvSpPr>
          <p:nvPr>
            <p:ph type="ctrTitle"/>
          </p:nvPr>
        </p:nvSpPr>
        <p:spPr>
          <a:xfrm>
            <a:off x="1524000" y="871128"/>
            <a:ext cx="9144000" cy="1037590"/>
          </a:xfrm>
        </p:spPr>
        <p:txBody>
          <a:bodyPr/>
          <a:lstStyle/>
          <a:p>
            <a:r>
              <a:rPr lang="en-IN" b="1" dirty="0">
                <a:latin typeface="Montserrat" panose="00000500000000000000" pitchFamily="2" charset="0"/>
              </a:rPr>
              <a:t>Gaps &amp; Opportunities</a:t>
            </a:r>
          </a:p>
        </p:txBody>
      </p:sp>
      <p:sp>
        <p:nvSpPr>
          <p:cNvPr id="3" name="Subtitle 2">
            <a:extLst>
              <a:ext uri="{FF2B5EF4-FFF2-40B4-BE49-F238E27FC236}">
                <a16:creationId xmlns:a16="http://schemas.microsoft.com/office/drawing/2014/main" id="{81B9272C-21BB-FC22-D358-FB4BA9D50EE7}"/>
              </a:ext>
            </a:extLst>
          </p:cNvPr>
          <p:cNvSpPr>
            <a:spLocks noGrp="1"/>
          </p:cNvSpPr>
          <p:nvPr>
            <p:ph type="subTitle" idx="1"/>
          </p:nvPr>
        </p:nvSpPr>
        <p:spPr>
          <a:xfrm>
            <a:off x="1406013" y="2402502"/>
            <a:ext cx="9144000" cy="1655762"/>
          </a:xfrm>
        </p:spPr>
        <p:txBody>
          <a:bodyPr>
            <a:noAutofit/>
          </a:bodyPr>
          <a:lstStyle/>
          <a:p>
            <a:r>
              <a:rPr lang="en-US" dirty="0"/>
              <a:t>Existing solutions are currently fragmented into three limited categories: </a:t>
            </a:r>
            <a:r>
              <a:rPr lang="en-US" b="1" dirty="0"/>
              <a:t>Secure Email Gateways</a:t>
            </a:r>
            <a:r>
              <a:rPr lang="en-US" dirty="0"/>
              <a:t> (like Proofpoint), which catch malware but fail against text-based social engineering; </a:t>
            </a:r>
            <a:r>
              <a:rPr lang="en-US" b="1" dirty="0"/>
              <a:t>AI Detectors</a:t>
            </a:r>
            <a:r>
              <a:rPr lang="en-US" dirty="0"/>
              <a:t> (like </a:t>
            </a:r>
            <a:r>
              <a:rPr lang="en-US" dirty="0" err="1"/>
              <a:t>RealityDefender</a:t>
            </a:r>
            <a:r>
              <a:rPr lang="en-US" dirty="0"/>
              <a:t>), which provide "black-box" scores without explainable evidence; and </a:t>
            </a:r>
            <a:r>
              <a:rPr lang="en-US" b="1" dirty="0"/>
              <a:t>Manual Forensic Tools</a:t>
            </a:r>
            <a:r>
              <a:rPr lang="en-US" dirty="0"/>
              <a:t>, which are highly accurate but too slow and technical for real-time corporate use.</a:t>
            </a:r>
          </a:p>
          <a:p>
            <a:r>
              <a:rPr lang="en-US" dirty="0"/>
              <a:t>VTX bridges these gaps by combining </a:t>
            </a:r>
            <a:r>
              <a:rPr lang="en-US" b="1" dirty="0"/>
              <a:t>Explainable Math (FFT)</a:t>
            </a:r>
            <a:r>
              <a:rPr lang="en-US" dirty="0"/>
              <a:t> with </a:t>
            </a:r>
            <a:r>
              <a:rPr lang="en-US" b="1" dirty="0"/>
              <a:t>Contextual Intelligence (Gemini API)</a:t>
            </a:r>
            <a:r>
              <a:rPr lang="en-US" dirty="0"/>
              <a:t>, offering a unified, scalable suite that verifies both visual and linguistic identity in a single workflow.</a:t>
            </a:r>
          </a:p>
          <a:p>
            <a:endParaRPr lang="en-US" dirty="0"/>
          </a:p>
        </p:txBody>
      </p:sp>
    </p:spTree>
    <p:extLst>
      <p:ext uri="{BB962C8B-B14F-4D97-AF65-F5344CB8AC3E}">
        <p14:creationId xmlns:p14="http://schemas.microsoft.com/office/powerpoint/2010/main" val="81080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417-F70C-76F1-8DA7-9F84EA24E6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AD5367-3E92-5729-6FD7-273C70AAD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287607C-AF5E-2567-232F-3994FF9F27D5}"/>
              </a:ext>
            </a:extLst>
          </p:cNvPr>
          <p:cNvSpPr>
            <a:spLocks noGrp="1"/>
          </p:cNvSpPr>
          <p:nvPr>
            <p:ph type="ctrTitle"/>
          </p:nvPr>
        </p:nvSpPr>
        <p:spPr>
          <a:xfrm>
            <a:off x="1366684" y="747251"/>
            <a:ext cx="9144000" cy="945157"/>
          </a:xfrm>
        </p:spPr>
        <p:txBody>
          <a:bodyPr/>
          <a:lstStyle/>
          <a:p>
            <a:r>
              <a:rPr lang="en-IN" b="1" dirty="0">
                <a:latin typeface="Montserrat" panose="00000500000000000000" pitchFamily="2" charset="0"/>
              </a:rPr>
              <a:t>Your Solution</a:t>
            </a:r>
          </a:p>
        </p:txBody>
      </p:sp>
      <p:sp>
        <p:nvSpPr>
          <p:cNvPr id="3" name="Subtitle 2">
            <a:extLst>
              <a:ext uri="{FF2B5EF4-FFF2-40B4-BE49-F238E27FC236}">
                <a16:creationId xmlns:a16="http://schemas.microsoft.com/office/drawing/2014/main" id="{CFBD9A0F-685D-2B29-DBD0-99378586E535}"/>
              </a:ext>
            </a:extLst>
          </p:cNvPr>
          <p:cNvSpPr>
            <a:spLocks noGrp="1"/>
          </p:cNvSpPr>
          <p:nvPr>
            <p:ph type="subTitle" idx="1"/>
          </p:nvPr>
        </p:nvSpPr>
        <p:spPr>
          <a:xfrm>
            <a:off x="1086464" y="2128684"/>
            <a:ext cx="10019071" cy="3982065"/>
          </a:xfrm>
        </p:spPr>
        <p:txBody>
          <a:bodyPr>
            <a:normAutofit lnSpcReduction="10000"/>
          </a:bodyPr>
          <a:lstStyle/>
          <a:p>
            <a:r>
              <a:rPr lang="en-US" dirty="0"/>
              <a:t>VTX is a </a:t>
            </a:r>
            <a:r>
              <a:rPr lang="en-US" b="1" dirty="0"/>
              <a:t>Hybrid Forensic Suite</a:t>
            </a:r>
            <a:r>
              <a:rPr lang="en-US" dirty="0"/>
              <a:t> that secures digital identity by validating both visual and linguistic data through a "Zero-Trust" architecture. Our solution addresses the dual threat of deepfakes and sophisticated phishing by combining two distinct intelligence layers:</a:t>
            </a:r>
          </a:p>
          <a:p>
            <a:r>
              <a:rPr lang="en-US" b="1" dirty="0"/>
              <a:t>Visual Integrity (FFT Analysis):</a:t>
            </a:r>
            <a:r>
              <a:rPr lang="en-US" dirty="0"/>
              <a:t> Unlike "black-box" AI detectors, VTX uses </a:t>
            </a:r>
            <a:r>
              <a:rPr lang="en-US" b="1" dirty="0"/>
              <a:t>Fast Fourier Transform (FFT)</a:t>
            </a:r>
            <a:r>
              <a:rPr lang="en-US" dirty="0"/>
              <a:t> to extract the mathematical spectral "fingerprints" left by generative AI. This provides explainable, forensic proof of manipulation by exposing high-frequency artifacts invisible to the human eye.</a:t>
            </a:r>
          </a:p>
          <a:p>
            <a:r>
              <a:rPr lang="en-US" b="1" dirty="0"/>
              <a:t>Linguistic Integrity (Gemini AI):</a:t>
            </a:r>
            <a:r>
              <a:rPr lang="en-US" dirty="0"/>
              <a:t> To combat Business Email Compromise (BEC), we leverage the </a:t>
            </a:r>
            <a:r>
              <a:rPr lang="en-US" b="1" dirty="0"/>
              <a:t>Gemini API</a:t>
            </a:r>
            <a:r>
              <a:rPr lang="en-US" dirty="0"/>
              <a:t> to analyze the "DNA" of corporate communications. It identifies psychological triggers, urgency bias, and domain inconsistencies that traditional spam filters miss.</a:t>
            </a:r>
          </a:p>
          <a:p>
            <a:endParaRPr lang="en-US" dirty="0"/>
          </a:p>
        </p:txBody>
      </p:sp>
    </p:spTree>
    <p:extLst>
      <p:ext uri="{BB962C8B-B14F-4D97-AF65-F5344CB8AC3E}">
        <p14:creationId xmlns:p14="http://schemas.microsoft.com/office/powerpoint/2010/main" val="134791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507-FD22-2E16-53F4-E66535A41E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BCE28E-E731-156C-EDC9-D5CD678B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95F80B-DB77-DFBE-02AB-06459A8C987C}"/>
              </a:ext>
            </a:extLst>
          </p:cNvPr>
          <p:cNvSpPr>
            <a:spLocks noGrp="1"/>
          </p:cNvSpPr>
          <p:nvPr>
            <p:ph type="ctrTitle"/>
          </p:nvPr>
        </p:nvSpPr>
        <p:spPr>
          <a:xfrm>
            <a:off x="1524000" y="392540"/>
            <a:ext cx="9144000" cy="1037589"/>
          </a:xfrm>
        </p:spPr>
        <p:txBody>
          <a:bodyPr/>
          <a:lstStyle/>
          <a:p>
            <a:r>
              <a:rPr lang="en-IN" b="1" dirty="0">
                <a:latin typeface="Montserrat" panose="00000500000000000000" pitchFamily="2" charset="0"/>
              </a:rPr>
              <a:t>Key Features</a:t>
            </a:r>
          </a:p>
        </p:txBody>
      </p:sp>
      <p:sp>
        <p:nvSpPr>
          <p:cNvPr id="5" name="Rectangle 1">
            <a:extLst>
              <a:ext uri="{FF2B5EF4-FFF2-40B4-BE49-F238E27FC236}">
                <a16:creationId xmlns:a16="http://schemas.microsoft.com/office/drawing/2014/main" id="{03F28DD7-452C-4B59-D7E0-31F96C995203}"/>
              </a:ext>
            </a:extLst>
          </p:cNvPr>
          <p:cNvSpPr>
            <a:spLocks noGrp="1" noChangeArrowheads="1"/>
          </p:cNvSpPr>
          <p:nvPr>
            <p:ph type="subTitle" idx="1"/>
          </p:nvPr>
        </p:nvSpPr>
        <p:spPr bwMode="auto">
          <a:xfrm>
            <a:off x="855406" y="2224158"/>
            <a:ext cx="1016655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Spectral Artifact Mapping (SAM):</a:t>
            </a:r>
            <a:r>
              <a:rPr kumimoji="0" lang="en-US" altLang="en-US" sz="1800" b="0" i="0" u="none" strike="noStrike" cap="none" normalizeH="0" baseline="0" dirty="0">
                <a:ln>
                  <a:noFill/>
                </a:ln>
                <a:solidFill>
                  <a:schemeClr val="tx1"/>
                </a:solidFill>
                <a:effectLst/>
                <a:latin typeface="Arial" panose="020B0604020202020204" pitchFamily="34" charset="0"/>
              </a:rPr>
              <a:t> Uses </a:t>
            </a:r>
            <a:r>
              <a:rPr kumimoji="0" lang="en-US" altLang="en-US" sz="1800" b="1" i="0" u="none" strike="noStrike" cap="none" normalizeH="0" baseline="0" dirty="0">
                <a:ln>
                  <a:noFill/>
                </a:ln>
                <a:solidFill>
                  <a:schemeClr val="tx1"/>
                </a:solidFill>
                <a:effectLst/>
                <a:latin typeface="Arial" panose="020B0604020202020204" pitchFamily="34" charset="0"/>
              </a:rPr>
              <a:t>Fast Fourier Transform (FFT)</a:t>
            </a:r>
            <a:r>
              <a:rPr kumimoji="0" lang="en-US" altLang="en-US" sz="1800" b="0" i="0" u="none" strike="noStrike" cap="none" normalizeH="0" baseline="0" dirty="0">
                <a:ln>
                  <a:noFill/>
                </a:ln>
                <a:solidFill>
                  <a:schemeClr val="tx1"/>
                </a:solidFill>
                <a:effectLst/>
                <a:latin typeface="Arial" panose="020B0604020202020204" pitchFamily="34" charset="0"/>
              </a:rPr>
              <a:t> to expose "checkerboard" noise patterns in images. This provides mathematical, forensic proof of AI manipulation that is invisible to the human eye.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Gemini-Powered Linguistic DNA:</a:t>
            </a:r>
            <a:r>
              <a:rPr kumimoji="0" lang="en-US" altLang="en-US" sz="1800" b="0" i="0" u="none" strike="noStrike" cap="none" normalizeH="0" baseline="0" dirty="0">
                <a:ln>
                  <a:noFill/>
                </a:ln>
                <a:solidFill>
                  <a:schemeClr val="tx1"/>
                </a:solidFill>
                <a:effectLst/>
                <a:latin typeface="Arial" panose="020B0604020202020204" pitchFamily="34" charset="0"/>
              </a:rPr>
              <a:t> Leverages the </a:t>
            </a:r>
            <a:r>
              <a:rPr kumimoji="0" lang="en-US" altLang="en-US" sz="1800" b="1" i="0" u="none" strike="noStrike" cap="none" normalizeH="0" baseline="0" dirty="0">
                <a:ln>
                  <a:noFill/>
                </a:ln>
                <a:solidFill>
                  <a:schemeClr val="tx1"/>
                </a:solidFill>
                <a:effectLst/>
                <a:latin typeface="Arial" panose="020B0604020202020204" pitchFamily="34" charset="0"/>
              </a:rPr>
              <a:t>Gemini 2.5 Flash API</a:t>
            </a:r>
            <a:r>
              <a:rPr kumimoji="0" lang="en-US" altLang="en-US" sz="1800" b="0" i="0" u="none" strike="noStrike" cap="none" normalizeH="0" baseline="0" dirty="0">
                <a:ln>
                  <a:noFill/>
                </a:ln>
                <a:solidFill>
                  <a:schemeClr val="tx1"/>
                </a:solidFill>
                <a:effectLst/>
                <a:latin typeface="Arial" panose="020B0604020202020204" pitchFamily="34" charset="0"/>
              </a:rPr>
              <a:t> to detect "Social Engineering." It identifies psychological triggers like urgency, coercion, and intent—patterns that traditional spam filters miss because they contain no malware.</a:t>
            </a:r>
            <a:endParaRPr lang="en-US" altLang="en-US" sz="18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sz="1800" b="1" dirty="0"/>
              <a:t>Domain Integrity Validation:</a:t>
            </a:r>
            <a:r>
              <a:rPr lang="en-US" sz="1800" dirty="0"/>
              <a:t> Automatically cross-references sender metadata to flag "</a:t>
            </a:r>
            <a:r>
              <a:rPr lang="en-US" sz="1800" dirty="0" err="1"/>
              <a:t>Typosquatting</a:t>
            </a:r>
            <a:r>
              <a:rPr lang="en-US" sz="1800" dirty="0"/>
              <a:t>" (e.g., google.com vs google.com) and display-name spoofing in real-time.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Unified Forensic Dashboard:</a:t>
            </a:r>
            <a:r>
              <a:rPr kumimoji="0" lang="en-US" altLang="en-US" sz="1800" b="0" i="0" u="none" strike="noStrike" cap="none" normalizeH="0" baseline="0" dirty="0">
                <a:ln>
                  <a:noFill/>
                </a:ln>
                <a:solidFill>
                  <a:schemeClr val="tx1"/>
                </a:solidFill>
                <a:effectLst/>
                <a:latin typeface="Arial" panose="020B0604020202020204" pitchFamily="34" charset="0"/>
              </a:rPr>
              <a:t> A single "Zero-Trust" interface built on </a:t>
            </a:r>
            <a:r>
              <a:rPr kumimoji="0" lang="en-US" altLang="en-US" sz="1800" b="1"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that aggregates visual and textual risk scores into an easy-to-understand security verdict for non-technical corporate staff.</a:t>
            </a:r>
          </a:p>
        </p:txBody>
      </p:sp>
    </p:spTree>
    <p:extLst>
      <p:ext uri="{BB962C8B-B14F-4D97-AF65-F5344CB8AC3E}">
        <p14:creationId xmlns:p14="http://schemas.microsoft.com/office/powerpoint/2010/main" val="160721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CE99-2961-B95A-6509-047601B344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206E9-DF7E-9DFF-CAC2-03673EB75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1795BD-090E-6657-E419-87C2FF670FCE}"/>
              </a:ext>
            </a:extLst>
          </p:cNvPr>
          <p:cNvSpPr>
            <a:spLocks noGrp="1"/>
          </p:cNvSpPr>
          <p:nvPr>
            <p:ph type="ctrTitle"/>
          </p:nvPr>
        </p:nvSpPr>
        <p:spPr>
          <a:xfrm>
            <a:off x="1524000" y="487894"/>
            <a:ext cx="9144000" cy="954989"/>
          </a:xfrm>
        </p:spPr>
        <p:txBody>
          <a:bodyPr/>
          <a:lstStyle/>
          <a:p>
            <a:r>
              <a:rPr lang="en-IN" b="1" dirty="0">
                <a:latin typeface="Montserrat" panose="00000500000000000000" pitchFamily="2" charset="0"/>
              </a:rPr>
              <a:t>System Architecture</a:t>
            </a:r>
          </a:p>
        </p:txBody>
      </p:sp>
      <p:sp>
        <p:nvSpPr>
          <p:cNvPr id="3" name="Subtitle 2">
            <a:extLst>
              <a:ext uri="{FF2B5EF4-FFF2-40B4-BE49-F238E27FC236}">
                <a16:creationId xmlns:a16="http://schemas.microsoft.com/office/drawing/2014/main" id="{D4A906B9-56E0-797C-DD33-8F28BE5FF209}"/>
              </a:ext>
            </a:extLst>
          </p:cNvPr>
          <p:cNvSpPr>
            <a:spLocks noGrp="1"/>
          </p:cNvSpPr>
          <p:nvPr>
            <p:ph type="subTitle" idx="1"/>
          </p:nvPr>
        </p:nvSpPr>
        <p:spPr>
          <a:xfrm>
            <a:off x="698090" y="1732935"/>
            <a:ext cx="10569678" cy="3392129"/>
          </a:xfrm>
        </p:spPr>
        <p:txBody>
          <a:bodyPr>
            <a:noAutofit/>
          </a:bodyPr>
          <a:lstStyle/>
          <a:p>
            <a:pPr algn="l"/>
            <a:r>
              <a:rPr lang="en-US" sz="2000" b="1" dirty="0"/>
              <a:t>1. The Core Layers</a:t>
            </a:r>
          </a:p>
          <a:p>
            <a:pPr algn="l"/>
            <a:r>
              <a:rPr lang="en-US" sz="2000" b="1" dirty="0"/>
              <a:t>Frontend (</a:t>
            </a:r>
            <a:r>
              <a:rPr lang="en-US" sz="2000" b="1" dirty="0" err="1"/>
              <a:t>Streamlit</a:t>
            </a:r>
            <a:r>
              <a:rPr lang="en-US" sz="2000" b="1" dirty="0"/>
              <a:t>):</a:t>
            </a:r>
            <a:r>
              <a:rPr lang="en-US" sz="2000" dirty="0"/>
              <a:t> A "Zero-Trust" dashboard for evidence ingestion and real-time risk visualization.</a:t>
            </a:r>
          </a:p>
          <a:p>
            <a:pPr algn="l"/>
            <a:r>
              <a:rPr lang="en-US" sz="2000" b="1" dirty="0"/>
              <a:t>Forensic Engine (OpenCV/NumPy):</a:t>
            </a:r>
            <a:r>
              <a:rPr lang="en-US" sz="2000" dirty="0"/>
              <a:t> Local execution of </a:t>
            </a:r>
            <a:r>
              <a:rPr lang="en-US" sz="2000" b="1" dirty="0"/>
              <a:t>Fast Fourier Transforms (FFT)</a:t>
            </a:r>
            <a:r>
              <a:rPr lang="en-US" sz="2000" dirty="0"/>
              <a:t> to extract spectral artifacts and noise maps (The "Hard Science").</a:t>
            </a:r>
          </a:p>
          <a:p>
            <a:pPr algn="l"/>
            <a:r>
              <a:rPr lang="en-US" sz="2000" b="1" dirty="0"/>
              <a:t>Intelligence Layer (Gemini 3 Flash API):</a:t>
            </a:r>
            <a:r>
              <a:rPr lang="en-US" sz="2000" dirty="0"/>
              <a:t> The "Digital Brain" that performs deep linguistic analysis, intent detection, and social engineering classification.</a:t>
            </a:r>
          </a:p>
          <a:p>
            <a:pPr algn="l"/>
            <a:r>
              <a:rPr lang="en-US" sz="2000" b="1" dirty="0"/>
              <a:t>2. The Workflow</a:t>
            </a:r>
          </a:p>
          <a:p>
            <a:pPr algn="l"/>
            <a:r>
              <a:rPr lang="en-US" sz="2000" b="1" dirty="0"/>
              <a:t>Visual Branch:</a:t>
            </a:r>
            <a:r>
              <a:rPr lang="en-US" sz="2000" dirty="0"/>
              <a:t> Images are converted to the frequency domain to isolate </a:t>
            </a:r>
            <a:r>
              <a:rPr lang="en-US" sz="2000" b="1" dirty="0"/>
              <a:t>high-frequency "checkerboard" anomalies</a:t>
            </a:r>
            <a:r>
              <a:rPr lang="en-US" sz="2000" dirty="0"/>
              <a:t> typical of GAN/Diffusion </a:t>
            </a:r>
            <a:r>
              <a:rPr lang="en-US" sz="2000" dirty="0" err="1"/>
              <a:t>upsampling</a:t>
            </a:r>
            <a:r>
              <a:rPr lang="en-US" sz="2000" dirty="0"/>
              <a:t>.</a:t>
            </a:r>
          </a:p>
          <a:p>
            <a:pPr algn="l"/>
            <a:r>
              <a:rPr lang="en-US" sz="2000" b="1" dirty="0"/>
              <a:t>Linguistic Branch:</a:t>
            </a:r>
            <a:r>
              <a:rPr lang="en-US" sz="2000" dirty="0"/>
              <a:t> Email text and metadata are processed by </a:t>
            </a:r>
            <a:r>
              <a:rPr lang="en-US" sz="2000" b="1" dirty="0"/>
              <a:t>Gemini</a:t>
            </a:r>
            <a:r>
              <a:rPr lang="en-US" sz="2000" dirty="0"/>
              <a:t> to flag urgency bias, financial coercion, and domain inconsistencies.</a:t>
            </a:r>
          </a:p>
          <a:p>
            <a:pPr algn="l"/>
            <a:r>
              <a:rPr lang="en-US" sz="2000" b="1" dirty="0"/>
              <a:t>Synthesis:</a:t>
            </a:r>
            <a:r>
              <a:rPr lang="en-US" sz="2000" dirty="0"/>
              <a:t> The </a:t>
            </a:r>
            <a:r>
              <a:rPr lang="en-US" sz="2000" b="1" dirty="0"/>
              <a:t>Verdict Engine</a:t>
            </a:r>
            <a:r>
              <a:rPr lang="en-US" sz="2000" dirty="0"/>
              <a:t> aggregates both branches into a final, explainable security report.</a:t>
            </a:r>
          </a:p>
          <a:p>
            <a:pPr algn="l"/>
            <a:endParaRPr lang="en-US" sz="2000" dirty="0"/>
          </a:p>
        </p:txBody>
      </p:sp>
    </p:spTree>
    <p:extLst>
      <p:ext uri="{BB962C8B-B14F-4D97-AF65-F5344CB8AC3E}">
        <p14:creationId xmlns:p14="http://schemas.microsoft.com/office/powerpoint/2010/main" val="69631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81B4-DCB3-98E2-06A8-576EFC8065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17783E-C433-A152-F467-61CD75CD3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1FA6C2-5A0A-1FF0-1EBE-5E203A16E6C1}"/>
              </a:ext>
            </a:extLst>
          </p:cNvPr>
          <p:cNvSpPr>
            <a:spLocks noGrp="1"/>
          </p:cNvSpPr>
          <p:nvPr>
            <p:ph type="ctrTitle"/>
          </p:nvPr>
        </p:nvSpPr>
        <p:spPr>
          <a:xfrm>
            <a:off x="1524000" y="511276"/>
            <a:ext cx="9144000" cy="925493"/>
          </a:xfrm>
        </p:spPr>
        <p:txBody>
          <a:bodyPr/>
          <a:lstStyle/>
          <a:p>
            <a:r>
              <a:rPr lang="en-IN" b="1" dirty="0">
                <a:latin typeface="Montserrat" panose="00000500000000000000" pitchFamily="2" charset="0"/>
              </a:rPr>
              <a:t>Tech Stack</a:t>
            </a:r>
          </a:p>
        </p:txBody>
      </p:sp>
      <p:sp>
        <p:nvSpPr>
          <p:cNvPr id="3" name="Subtitle 2">
            <a:extLst>
              <a:ext uri="{FF2B5EF4-FFF2-40B4-BE49-F238E27FC236}">
                <a16:creationId xmlns:a16="http://schemas.microsoft.com/office/drawing/2014/main" id="{3C679BA1-238F-16C1-81DD-F89092E26652}"/>
              </a:ext>
            </a:extLst>
          </p:cNvPr>
          <p:cNvSpPr>
            <a:spLocks noGrp="1"/>
          </p:cNvSpPr>
          <p:nvPr>
            <p:ph type="subTitle" idx="1"/>
          </p:nvPr>
        </p:nvSpPr>
        <p:spPr>
          <a:xfrm>
            <a:off x="570271" y="1948045"/>
            <a:ext cx="10481187" cy="4128289"/>
          </a:xfrm>
        </p:spPr>
        <p:txBody>
          <a:bodyPr>
            <a:normAutofit fontScale="77500" lnSpcReduction="20000"/>
          </a:bodyPr>
          <a:lstStyle/>
          <a:p>
            <a:pPr algn="l"/>
            <a:r>
              <a:rPr lang="en-US" b="1" dirty="0"/>
              <a:t>1. Frontend &amp; Orchestration</a:t>
            </a:r>
          </a:p>
          <a:p>
            <a:pPr algn="l"/>
            <a:r>
              <a:rPr lang="en-US" b="1" dirty="0" err="1"/>
              <a:t>Streamlit</a:t>
            </a:r>
            <a:r>
              <a:rPr lang="en-US" b="1" dirty="0"/>
              <a:t>:</a:t>
            </a:r>
            <a:r>
              <a:rPr lang="en-US" dirty="0"/>
              <a:t> Powers our "Zero-Trust" dashboard. It provides a reactive, professional UI for real-time risk visualization and forensic reporting.</a:t>
            </a:r>
          </a:p>
          <a:p>
            <a:pPr algn="l"/>
            <a:r>
              <a:rPr lang="en-US" b="1" dirty="0"/>
              <a:t>Python 3.11:</a:t>
            </a:r>
            <a:r>
              <a:rPr lang="en-US" dirty="0"/>
              <a:t> The core engine used for system orchestration, data pipelining, and API integration.</a:t>
            </a:r>
          </a:p>
          <a:p>
            <a:pPr algn="l"/>
            <a:r>
              <a:rPr lang="en-US" b="1" dirty="0"/>
              <a:t>2. Visual Forensic Engine (Local)</a:t>
            </a:r>
          </a:p>
          <a:p>
            <a:pPr algn="l"/>
            <a:r>
              <a:rPr lang="en-US" b="1" dirty="0"/>
              <a:t>OpenCV &amp; NumPy:</a:t>
            </a:r>
            <a:r>
              <a:rPr lang="en-US" dirty="0"/>
              <a:t> These libraries handle the "Hard Science." We perform </a:t>
            </a:r>
            <a:r>
              <a:rPr lang="en-US" b="1" dirty="0"/>
              <a:t>Fast Fourier Transforms (FFT)</a:t>
            </a:r>
            <a:r>
              <a:rPr lang="en-US" dirty="0"/>
              <a:t> locally to convert images into the frequency domain. This allows us to detect high-frequency "checkerboard" artifacts—the invisible mathematical fingerprints left by Generative AI (GANs/Diffusion) during </a:t>
            </a:r>
            <a:r>
              <a:rPr lang="en-US" dirty="0" err="1"/>
              <a:t>upsampling</a:t>
            </a:r>
            <a:r>
              <a:rPr lang="en-US" dirty="0"/>
              <a:t>.</a:t>
            </a:r>
          </a:p>
          <a:p>
            <a:pPr algn="l"/>
            <a:r>
              <a:rPr lang="en-US" b="1" dirty="0"/>
              <a:t>3. Intelligence Layer (Cloud)</a:t>
            </a:r>
          </a:p>
          <a:p>
            <a:pPr algn="l"/>
            <a:r>
              <a:rPr lang="en-US" b="1" dirty="0"/>
              <a:t>Gemini 3.1 Flash API:</a:t>
            </a:r>
            <a:r>
              <a:rPr lang="en-US" dirty="0"/>
              <a:t> Released in early 2026, this is our "Digital Brain." We use it for </a:t>
            </a:r>
            <a:r>
              <a:rPr lang="en-US" b="1" dirty="0"/>
              <a:t>Agentic Workflows</a:t>
            </a:r>
            <a:r>
              <a:rPr lang="en-US" dirty="0"/>
              <a:t>:</a:t>
            </a:r>
          </a:p>
          <a:p>
            <a:pPr lvl="1" algn="l"/>
            <a:r>
              <a:rPr lang="en-US" b="1" dirty="0"/>
              <a:t>Linguistic DNA:</a:t>
            </a:r>
            <a:r>
              <a:rPr lang="en-US" dirty="0"/>
              <a:t> Analyzing email text for "Social Engineering" patterns (urgency, coercion, and intent).</a:t>
            </a:r>
          </a:p>
          <a:p>
            <a:pPr lvl="1" algn="l"/>
            <a:r>
              <a:rPr lang="en-US" b="1" dirty="0"/>
              <a:t>Domain Shield:</a:t>
            </a:r>
            <a:r>
              <a:rPr lang="en-US" dirty="0"/>
              <a:t> Cross-referencing sender metadata against corporate records to flag </a:t>
            </a:r>
            <a:r>
              <a:rPr lang="en-US" dirty="0" err="1"/>
              <a:t>typosquatting</a:t>
            </a:r>
            <a:r>
              <a:rPr lang="en-US" dirty="0"/>
              <a:t> in real-time.</a:t>
            </a:r>
          </a:p>
          <a:p>
            <a:pPr algn="l"/>
            <a:r>
              <a:rPr lang="en-US" b="1" dirty="0"/>
              <a:t>Google AI Studio:</a:t>
            </a:r>
            <a:r>
              <a:rPr lang="en-US" dirty="0"/>
              <a:t> Used for rapid prototyping and secure API management.</a:t>
            </a:r>
          </a:p>
          <a:p>
            <a:pPr algn="l"/>
            <a:endParaRPr lang="en-US" dirty="0"/>
          </a:p>
        </p:txBody>
      </p:sp>
    </p:spTree>
    <p:extLst>
      <p:ext uri="{BB962C8B-B14F-4D97-AF65-F5344CB8AC3E}">
        <p14:creationId xmlns:p14="http://schemas.microsoft.com/office/powerpoint/2010/main" val="2148683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1831-6846-427E-64BB-1014021588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831684-E944-D21A-AEB7-C0CD0756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8490"/>
            <a:ext cx="12192000" cy="6858000"/>
          </a:xfrm>
          <a:prstGeom prst="rect">
            <a:avLst/>
          </a:prstGeom>
        </p:spPr>
      </p:pic>
      <p:sp>
        <p:nvSpPr>
          <p:cNvPr id="2" name="Title 1">
            <a:extLst>
              <a:ext uri="{FF2B5EF4-FFF2-40B4-BE49-F238E27FC236}">
                <a16:creationId xmlns:a16="http://schemas.microsoft.com/office/drawing/2014/main" id="{E2931271-7B83-E6B0-4697-A9B3A4A0B3E0}"/>
              </a:ext>
            </a:extLst>
          </p:cNvPr>
          <p:cNvSpPr>
            <a:spLocks noGrp="1"/>
          </p:cNvSpPr>
          <p:nvPr>
            <p:ph type="ctrTitle"/>
          </p:nvPr>
        </p:nvSpPr>
        <p:spPr>
          <a:xfrm>
            <a:off x="1524000" y="562611"/>
            <a:ext cx="9144000" cy="1037589"/>
          </a:xfrm>
        </p:spPr>
        <p:txBody>
          <a:bodyPr>
            <a:normAutofit/>
          </a:bodyPr>
          <a:lstStyle/>
          <a:p>
            <a:r>
              <a:rPr lang="en-IN" b="1" dirty="0">
                <a:latin typeface="Montserrat" panose="00000500000000000000" pitchFamily="2" charset="0"/>
              </a:rPr>
              <a:t>Workflow</a:t>
            </a:r>
          </a:p>
        </p:txBody>
      </p:sp>
      <p:sp>
        <p:nvSpPr>
          <p:cNvPr id="5" name="Rectangle 1">
            <a:extLst>
              <a:ext uri="{FF2B5EF4-FFF2-40B4-BE49-F238E27FC236}">
                <a16:creationId xmlns:a16="http://schemas.microsoft.com/office/drawing/2014/main" id="{B30D97E2-8FEB-2ECE-0F8E-C1F960C9D19F}"/>
              </a:ext>
            </a:extLst>
          </p:cNvPr>
          <p:cNvSpPr>
            <a:spLocks noGrp="1" noChangeArrowheads="1"/>
          </p:cNvSpPr>
          <p:nvPr>
            <p:ph type="subTitle" idx="1"/>
          </p:nvPr>
        </p:nvSpPr>
        <p:spPr bwMode="auto">
          <a:xfrm>
            <a:off x="973393" y="1726158"/>
            <a:ext cx="1024521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Ingestion:</a:t>
            </a:r>
            <a:r>
              <a:rPr kumimoji="0" lang="en-US" altLang="en-US" b="0" i="0" u="none" strike="noStrike" cap="none" normalizeH="0" baseline="0" dirty="0">
                <a:ln>
                  <a:noFill/>
                </a:ln>
                <a:solidFill>
                  <a:schemeClr val="tx1"/>
                </a:solidFill>
                <a:effectLst/>
                <a:latin typeface="Arial" panose="020B0604020202020204" pitchFamily="34" charset="0"/>
              </a:rPr>
              <a:t> Suspicious images or emails are uploaded to the </a:t>
            </a:r>
            <a:r>
              <a:rPr kumimoji="0" lang="en-US" altLang="en-US" b="1" i="0" u="none" strike="noStrike" cap="none" normalizeH="0" baseline="0" dirty="0" err="1">
                <a:ln>
                  <a:noFill/>
                </a:ln>
                <a:solidFill>
                  <a:schemeClr val="tx1"/>
                </a:solidFill>
                <a:effectLst/>
                <a:latin typeface="Arial" panose="020B0604020202020204" pitchFamily="34" charset="0"/>
              </a:rPr>
              <a:t>Streamlit</a:t>
            </a:r>
            <a:r>
              <a:rPr kumimoji="0" lang="en-US" altLang="en-US" b="0" i="0" u="none" strike="noStrike" cap="none" normalizeH="0" baseline="0" dirty="0">
                <a:ln>
                  <a:noFill/>
                </a:ln>
                <a:solidFill>
                  <a:schemeClr val="tx1"/>
                </a:solidFill>
                <a:effectLst/>
                <a:latin typeface="Arial" panose="020B0604020202020204" pitchFamily="34" charset="0"/>
              </a:rPr>
              <a:t> dashboard for triage.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Parallel Analysis: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Visual (Local):</a:t>
            </a:r>
            <a:r>
              <a:rPr kumimoji="0" lang="en-US" altLang="en-US" b="0" i="0" u="none" strike="noStrike" cap="none" normalizeH="0" baseline="0" dirty="0">
                <a:ln>
                  <a:noFill/>
                </a:ln>
                <a:solidFill>
                  <a:schemeClr val="tx1"/>
                </a:solidFill>
                <a:effectLst/>
                <a:latin typeface="Arial" panose="020B0604020202020204" pitchFamily="34" charset="0"/>
              </a:rPr>
              <a:t> Uses </a:t>
            </a:r>
            <a:r>
              <a:rPr kumimoji="0" lang="en-US" altLang="en-US" b="1" i="0" u="none" strike="noStrike" cap="none" normalizeH="0" baseline="0" dirty="0">
                <a:ln>
                  <a:noFill/>
                </a:ln>
                <a:solidFill>
                  <a:schemeClr val="tx1"/>
                </a:solidFill>
                <a:effectLst/>
                <a:latin typeface="Arial" panose="020B0604020202020204" pitchFamily="34" charset="0"/>
              </a:rPr>
              <a:t>FFT (Fast Fourier Transform)</a:t>
            </a:r>
            <a:r>
              <a:rPr kumimoji="0" lang="en-US" altLang="en-US" b="0" i="0" u="none" strike="noStrike" cap="none" normalizeH="0" baseline="0" dirty="0">
                <a:ln>
                  <a:noFill/>
                </a:ln>
                <a:solidFill>
                  <a:schemeClr val="tx1"/>
                </a:solidFill>
                <a:effectLst/>
                <a:latin typeface="Arial" panose="020B0604020202020204" pitchFamily="34" charset="0"/>
              </a:rPr>
              <a:t> via OpenCV to expose "checkerboard" spectral artifacts—the mathematical fingerprints of AI </a:t>
            </a:r>
            <a:r>
              <a:rPr kumimoji="0" lang="en-US" altLang="en-US" b="0" i="0" u="none" strike="noStrike" cap="none" normalizeH="0" baseline="0" dirty="0" err="1">
                <a:ln>
                  <a:noFill/>
                </a:ln>
                <a:solidFill>
                  <a:schemeClr val="tx1"/>
                </a:solidFill>
                <a:effectLst/>
                <a:latin typeface="Arial" panose="020B0604020202020204" pitchFamily="34" charset="0"/>
              </a:rPr>
              <a:t>upsampling</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Linguistic (Cloud):</a:t>
            </a: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1" i="0" u="none" strike="noStrike" cap="none" normalizeH="0" baseline="0" dirty="0">
                <a:ln>
                  <a:noFill/>
                </a:ln>
                <a:solidFill>
                  <a:schemeClr val="tx1"/>
                </a:solidFill>
                <a:effectLst/>
                <a:latin typeface="Arial" panose="020B0604020202020204" pitchFamily="34" charset="0"/>
              </a:rPr>
              <a:t>Gemini 3 Flash API</a:t>
            </a:r>
            <a:r>
              <a:rPr kumimoji="0" lang="en-US" altLang="en-US" b="0" i="0" u="none" strike="noStrike" cap="none" normalizeH="0" baseline="0" dirty="0">
                <a:ln>
                  <a:noFill/>
                </a:ln>
                <a:solidFill>
                  <a:schemeClr val="tx1"/>
                </a:solidFill>
                <a:effectLst/>
                <a:latin typeface="Arial" panose="020B0604020202020204" pitchFamily="34" charset="0"/>
              </a:rPr>
              <a:t> scans email text and metadata for social engineering patterns (urgency, coercion) and domain spoofing.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Synthesis:</a:t>
            </a: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1" i="0" u="none" strike="noStrike" cap="none" normalizeH="0" baseline="0" dirty="0">
                <a:ln>
                  <a:noFill/>
                </a:ln>
                <a:solidFill>
                  <a:schemeClr val="tx1"/>
                </a:solidFill>
                <a:effectLst/>
                <a:latin typeface="Arial" panose="020B0604020202020204" pitchFamily="34" charset="0"/>
              </a:rPr>
              <a:t>Verdict Engine</a:t>
            </a:r>
            <a:r>
              <a:rPr kumimoji="0" lang="en-US" altLang="en-US" b="0" i="0" u="none" strike="noStrike" cap="none" normalizeH="0" baseline="0" dirty="0">
                <a:ln>
                  <a:noFill/>
                </a:ln>
                <a:solidFill>
                  <a:schemeClr val="tx1"/>
                </a:solidFill>
                <a:effectLst/>
                <a:latin typeface="Arial" panose="020B0604020202020204" pitchFamily="34" charset="0"/>
              </a:rPr>
              <a:t> aggregates these results into a single, explainable forensic report, providing both the "How" (mathematical proof) and the "Why" (linguistic intent).</a:t>
            </a:r>
          </a:p>
        </p:txBody>
      </p:sp>
    </p:spTree>
    <p:extLst>
      <p:ext uri="{BB962C8B-B14F-4D97-AF65-F5344CB8AC3E}">
        <p14:creationId xmlns:p14="http://schemas.microsoft.com/office/powerpoint/2010/main" val="72113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F5D3-4344-4362-805C-8F963B2780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6C13-3B8B-52D8-104D-1E08E396A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824925-7E47-111A-5B2A-714F7E54B7D0}"/>
              </a:ext>
            </a:extLst>
          </p:cNvPr>
          <p:cNvSpPr>
            <a:spLocks noGrp="1"/>
          </p:cNvSpPr>
          <p:nvPr>
            <p:ph type="ctrTitle"/>
          </p:nvPr>
        </p:nvSpPr>
        <p:spPr>
          <a:xfrm>
            <a:off x="1524000" y="737418"/>
            <a:ext cx="9144000" cy="1171299"/>
          </a:xfrm>
        </p:spPr>
        <p:txBody>
          <a:bodyPr/>
          <a:lstStyle/>
          <a:p>
            <a:r>
              <a:rPr lang="en-IN" b="1" dirty="0">
                <a:latin typeface="Montserrat" panose="00000500000000000000" pitchFamily="2" charset="0"/>
              </a:rPr>
              <a:t>Impact</a:t>
            </a:r>
          </a:p>
        </p:txBody>
      </p:sp>
      <p:sp>
        <p:nvSpPr>
          <p:cNvPr id="3" name="Subtitle 2">
            <a:extLst>
              <a:ext uri="{FF2B5EF4-FFF2-40B4-BE49-F238E27FC236}">
                <a16:creationId xmlns:a16="http://schemas.microsoft.com/office/drawing/2014/main" id="{87292949-4812-3723-5970-052C9D70C07D}"/>
              </a:ext>
            </a:extLst>
          </p:cNvPr>
          <p:cNvSpPr>
            <a:spLocks noGrp="1"/>
          </p:cNvSpPr>
          <p:nvPr>
            <p:ph type="subTitle" idx="1"/>
          </p:nvPr>
        </p:nvSpPr>
        <p:spPr>
          <a:xfrm>
            <a:off x="1425678" y="2215689"/>
            <a:ext cx="9144000" cy="3693497"/>
          </a:xfrm>
        </p:spPr>
        <p:txBody>
          <a:bodyPr>
            <a:noAutofit/>
          </a:bodyPr>
          <a:lstStyle/>
          <a:p>
            <a:r>
              <a:rPr lang="en-US" sz="2000" b="1" dirty="0"/>
              <a:t>VTX</a:t>
            </a:r>
            <a:r>
              <a:rPr lang="en-US" sz="2000" dirty="0"/>
              <a:t> provides a critical layer of defense against the </a:t>
            </a:r>
            <a:r>
              <a:rPr lang="en-US" sz="2000" b="1" dirty="0"/>
              <a:t>$12 billion+</a:t>
            </a:r>
            <a:r>
              <a:rPr lang="en-US" sz="2000" dirty="0"/>
              <a:t> annual threat of AI-driven fraud. Its impact is defined by three key pillars:</a:t>
            </a:r>
          </a:p>
          <a:p>
            <a:r>
              <a:rPr lang="en-US" sz="2000" b="1" dirty="0"/>
              <a:t>Financial Security:</a:t>
            </a:r>
            <a:r>
              <a:rPr lang="en-US" sz="2000" dirty="0"/>
              <a:t> By detecting </a:t>
            </a:r>
            <a:r>
              <a:rPr lang="en-US" sz="2000" b="1" dirty="0"/>
              <a:t>"Zero-Day" Phishing</a:t>
            </a:r>
            <a:r>
              <a:rPr lang="en-US" sz="2000" dirty="0"/>
              <a:t> and Business Email Compromise (BEC) that lack traditional malware signatures, VTX prevents high-value unauthorized transfers and data breaches.</a:t>
            </a:r>
          </a:p>
          <a:p>
            <a:r>
              <a:rPr lang="en-US" sz="2000" b="1" dirty="0"/>
              <a:t>Forensic Transparency:</a:t>
            </a:r>
            <a:r>
              <a:rPr lang="en-US" sz="2000" dirty="0"/>
              <a:t> We move beyond "black-box" guesses. By providing </a:t>
            </a:r>
            <a:r>
              <a:rPr lang="en-US" sz="2000" b="1" dirty="0"/>
              <a:t>Spectral Artifact Maps (FFT)</a:t>
            </a:r>
            <a:r>
              <a:rPr lang="en-US" sz="2000" dirty="0"/>
              <a:t>, VTX offers mathematical proof that can be used as evidence in legal proceedings, insurance claims, and corporate audits.</a:t>
            </a:r>
          </a:p>
          <a:p>
            <a:r>
              <a:rPr lang="en-US" sz="2000" b="1" dirty="0"/>
              <a:t>Restoring Digital Trust:</a:t>
            </a:r>
            <a:r>
              <a:rPr lang="en-US" sz="2000" dirty="0"/>
              <a:t> In an era of constant deepfakes, VTX acts as a "Truth Layer," allowing media organizations and enterprises to verify the </a:t>
            </a:r>
            <a:r>
              <a:rPr lang="en-US" sz="2000" b="1" dirty="0"/>
              <a:t>identity</a:t>
            </a:r>
            <a:r>
              <a:rPr lang="en-US" sz="2000" dirty="0"/>
              <a:t> and </a:t>
            </a:r>
            <a:r>
              <a:rPr lang="en-US" sz="2000" b="1" dirty="0"/>
              <a:t>intent</a:t>
            </a:r>
            <a:r>
              <a:rPr lang="en-US" sz="2000" dirty="0"/>
              <a:t> of communications before they trigger misinformation or financial loss.</a:t>
            </a:r>
          </a:p>
          <a:p>
            <a:endParaRPr lang="en-US" sz="2000" dirty="0"/>
          </a:p>
        </p:txBody>
      </p:sp>
    </p:spTree>
    <p:extLst>
      <p:ext uri="{BB962C8B-B14F-4D97-AF65-F5344CB8AC3E}">
        <p14:creationId xmlns:p14="http://schemas.microsoft.com/office/powerpoint/2010/main" val="200124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0058-2A1B-9A2D-4ACF-404877CEEC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AED9E8-8E9E-772E-A148-23AF520F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38C520-B6A8-E5A5-6C12-E50EB51E1C3E}"/>
              </a:ext>
            </a:extLst>
          </p:cNvPr>
          <p:cNvSpPr>
            <a:spLocks noGrp="1"/>
          </p:cNvSpPr>
          <p:nvPr>
            <p:ph type="ctrTitle"/>
          </p:nvPr>
        </p:nvSpPr>
        <p:spPr>
          <a:xfrm>
            <a:off x="1592826" y="733701"/>
            <a:ext cx="9144000" cy="866499"/>
          </a:xfrm>
        </p:spPr>
        <p:txBody>
          <a:bodyPr>
            <a:normAutofit fontScale="90000"/>
          </a:bodyPr>
          <a:lstStyle/>
          <a:p>
            <a:r>
              <a:rPr lang="en-IN" b="1" dirty="0">
                <a:latin typeface="Montserrat" panose="00000500000000000000" pitchFamily="2" charset="0"/>
              </a:rPr>
              <a:t>Future Scope</a:t>
            </a:r>
          </a:p>
        </p:txBody>
      </p:sp>
      <p:sp>
        <p:nvSpPr>
          <p:cNvPr id="3" name="Subtitle 2">
            <a:extLst>
              <a:ext uri="{FF2B5EF4-FFF2-40B4-BE49-F238E27FC236}">
                <a16:creationId xmlns:a16="http://schemas.microsoft.com/office/drawing/2014/main" id="{A5D0CB7A-4CE2-C98F-181A-2955692E4C9A}"/>
              </a:ext>
            </a:extLst>
          </p:cNvPr>
          <p:cNvSpPr>
            <a:spLocks noGrp="1"/>
          </p:cNvSpPr>
          <p:nvPr>
            <p:ph type="subTitle" idx="1"/>
          </p:nvPr>
        </p:nvSpPr>
        <p:spPr>
          <a:xfrm>
            <a:off x="796413" y="2094271"/>
            <a:ext cx="10314039" cy="3755923"/>
          </a:xfrm>
        </p:spPr>
        <p:txBody>
          <a:bodyPr>
            <a:normAutofit fontScale="92500"/>
          </a:bodyPr>
          <a:lstStyle/>
          <a:p>
            <a:endParaRPr lang="en-US" b="1" dirty="0"/>
          </a:p>
          <a:p>
            <a:r>
              <a:rPr lang="en-US" b="1" dirty="0"/>
              <a:t>Multimodal Expansion:</a:t>
            </a:r>
            <a:r>
              <a:rPr lang="en-US" dirty="0"/>
              <a:t> Extending forensic analysis to </a:t>
            </a:r>
            <a:r>
              <a:rPr lang="en-US" b="1" dirty="0"/>
              <a:t>Real-Time Video</a:t>
            </a:r>
            <a:r>
              <a:rPr lang="en-US" dirty="0"/>
              <a:t> and </a:t>
            </a:r>
            <a:r>
              <a:rPr lang="en-US" b="1" dirty="0"/>
              <a:t>Synthetic Audio</a:t>
            </a:r>
            <a:r>
              <a:rPr lang="en-US" dirty="0"/>
              <a:t> to detect live deepfake streams and voice cloning.</a:t>
            </a:r>
          </a:p>
          <a:p>
            <a:r>
              <a:rPr lang="en-US" b="1" dirty="0"/>
              <a:t>Autonomous Response:</a:t>
            </a:r>
            <a:r>
              <a:rPr lang="en-US" dirty="0"/>
              <a:t> Transitioning from detection to </a:t>
            </a:r>
            <a:r>
              <a:rPr lang="en-US" b="1" dirty="0"/>
              <a:t>Active Defense</a:t>
            </a:r>
            <a:r>
              <a:rPr lang="en-US" dirty="0"/>
              <a:t>, where the system can automatically quarantine high-risk communications in real-time.</a:t>
            </a:r>
          </a:p>
          <a:p>
            <a:r>
              <a:rPr lang="en-US" b="1" dirty="0"/>
              <a:t>Blockchain Provenance:</a:t>
            </a:r>
            <a:r>
              <a:rPr lang="en-US" dirty="0"/>
              <a:t> Integrating with decentralized ledgers to create </a:t>
            </a:r>
            <a:r>
              <a:rPr lang="en-US" b="1" dirty="0"/>
              <a:t>Immutable Evidence Logs</a:t>
            </a:r>
            <a:r>
              <a:rPr lang="en-US" dirty="0"/>
              <a:t>, providing a permanent, tamper-proof record of every forensic check.</a:t>
            </a:r>
          </a:p>
          <a:p>
            <a:r>
              <a:rPr lang="en-US" b="1" dirty="0"/>
              <a:t>Regulatory Compliance:</a:t>
            </a:r>
            <a:r>
              <a:rPr lang="en-US" dirty="0"/>
              <a:t> Mapping automated reports directly to global standards like the </a:t>
            </a:r>
            <a:r>
              <a:rPr lang="en-US" b="1" dirty="0"/>
              <a:t>EU AI Act</a:t>
            </a:r>
            <a:r>
              <a:rPr lang="en-US" dirty="0"/>
              <a:t>, making VTX a turnkey solution for corporate legal and audit requirements.</a:t>
            </a:r>
          </a:p>
          <a:p>
            <a:endParaRPr lang="en-US" dirty="0"/>
          </a:p>
        </p:txBody>
      </p:sp>
    </p:spTree>
    <p:extLst>
      <p:ext uri="{BB962C8B-B14F-4D97-AF65-F5344CB8AC3E}">
        <p14:creationId xmlns:p14="http://schemas.microsoft.com/office/powerpoint/2010/main" val="36246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BC0-B449-3880-DCF1-3623A94293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C3DCD4-1187-52B4-EA97-0B89E26E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4" y="0"/>
            <a:ext cx="12192000" cy="6858000"/>
          </a:xfrm>
          <a:prstGeom prst="rect">
            <a:avLst/>
          </a:prstGeom>
        </p:spPr>
      </p:pic>
      <p:sp>
        <p:nvSpPr>
          <p:cNvPr id="2" name="Title 1">
            <a:extLst>
              <a:ext uri="{FF2B5EF4-FFF2-40B4-BE49-F238E27FC236}">
                <a16:creationId xmlns:a16="http://schemas.microsoft.com/office/drawing/2014/main" id="{BCC69965-D790-CADB-8E84-39390523C4C1}"/>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Team Info</a:t>
            </a:r>
          </a:p>
        </p:txBody>
      </p:sp>
      <p:sp>
        <p:nvSpPr>
          <p:cNvPr id="6" name="Rectangle 2">
            <a:extLst>
              <a:ext uri="{FF2B5EF4-FFF2-40B4-BE49-F238E27FC236}">
                <a16:creationId xmlns:a16="http://schemas.microsoft.com/office/drawing/2014/main" id="{B8A35DE3-EB13-2BDB-C6EF-256EC4ACC713}"/>
              </a:ext>
            </a:extLst>
          </p:cNvPr>
          <p:cNvSpPr>
            <a:spLocks noGrp="1" noChangeArrowheads="1"/>
          </p:cNvSpPr>
          <p:nvPr>
            <p:ph type="subTitle" idx="1"/>
          </p:nvPr>
        </p:nvSpPr>
        <p:spPr bwMode="auto">
          <a:xfrm>
            <a:off x="3811265" y="3585058"/>
            <a:ext cx="4535601" cy="109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a:r>
              <a:rPr lang="en-US" sz="1800" b="1" dirty="0">
                <a:latin typeface="Open sans" panose="020B0606030504020204" pitchFamily="34" charset="0"/>
                <a:ea typeface="Open sans" panose="020B0606030504020204" pitchFamily="34" charset="0"/>
                <a:cs typeface="Open sans" panose="020B0606030504020204" pitchFamily="34" charset="0"/>
              </a:rPr>
              <a:t>Devang Santhosh: </a:t>
            </a:r>
            <a:r>
              <a:rPr lang="en-US" sz="1800" dirty="0">
                <a:latin typeface="Open sans" panose="020B0606030504020204" pitchFamily="34" charset="0"/>
                <a:ea typeface="Open sans" panose="020B0606030504020204" pitchFamily="34" charset="0"/>
                <a:cs typeface="Open sans" panose="020B0606030504020204" pitchFamily="34" charset="0"/>
              </a:rPr>
              <a:t>Technical Lead</a:t>
            </a:r>
          </a:p>
          <a:p>
            <a:pPr algn="l"/>
            <a:r>
              <a:rPr lang="en-US" sz="1800" b="1" dirty="0" err="1">
                <a:latin typeface="Open sans" panose="020B0606030504020204" pitchFamily="34" charset="0"/>
                <a:ea typeface="Open sans" panose="020B0606030504020204" pitchFamily="34" charset="0"/>
                <a:cs typeface="Open sans" panose="020B0606030504020204" pitchFamily="34" charset="0"/>
              </a:rPr>
              <a:t>Roshil</a:t>
            </a:r>
            <a:r>
              <a:rPr lang="en-US" sz="1800" b="1" dirty="0">
                <a:latin typeface="Open sans" panose="020B0606030504020204" pitchFamily="34" charset="0"/>
                <a:ea typeface="Open sans" panose="020B0606030504020204" pitchFamily="34" charset="0"/>
                <a:cs typeface="Open sans" panose="020B0606030504020204" pitchFamily="34" charset="0"/>
              </a:rPr>
              <a:t> Ranjith: </a:t>
            </a:r>
            <a:r>
              <a:rPr lang="en-US" sz="1800" dirty="0">
                <a:latin typeface="Open sans" panose="020B0606030504020204" pitchFamily="34" charset="0"/>
                <a:ea typeface="Open sans" panose="020B0606030504020204" pitchFamily="34" charset="0"/>
                <a:cs typeface="Open sans" panose="020B0606030504020204" pitchFamily="34" charset="0"/>
              </a:rPr>
              <a:t>Integration and UI Lead</a:t>
            </a:r>
          </a:p>
          <a:p>
            <a:pPr algn="l"/>
            <a:r>
              <a:rPr lang="en-US" sz="1800" b="1" dirty="0">
                <a:latin typeface="Open sans" panose="020B0606030504020204" pitchFamily="34" charset="0"/>
                <a:ea typeface="Open sans" panose="020B0606030504020204" pitchFamily="34" charset="0"/>
                <a:cs typeface="Open sans" panose="020B0606030504020204" pitchFamily="34" charset="0"/>
              </a:rPr>
              <a:t>Adith P Nair: </a:t>
            </a:r>
            <a:r>
              <a:rPr lang="en-US" sz="1800" dirty="0">
                <a:latin typeface="Open sans" panose="020B0606030504020204" pitchFamily="34" charset="0"/>
                <a:ea typeface="Open sans" panose="020B0606030504020204" pitchFamily="34" charset="0"/>
                <a:cs typeface="Open sans" panose="020B0606030504020204" pitchFamily="34" charset="0"/>
              </a:rPr>
              <a:t>Product and Strategy Lead</a:t>
            </a:r>
          </a:p>
        </p:txBody>
      </p:sp>
    </p:spTree>
    <p:extLst>
      <p:ext uri="{BB962C8B-B14F-4D97-AF65-F5344CB8AC3E}">
        <p14:creationId xmlns:p14="http://schemas.microsoft.com/office/powerpoint/2010/main" val="2135367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1464</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Google Sans Text</vt:lpstr>
      <vt:lpstr>Montserrat</vt:lpstr>
      <vt:lpstr>Open Sans</vt:lpstr>
      <vt:lpstr>Office Theme</vt:lpstr>
      <vt:lpstr>Title</vt:lpstr>
      <vt:lpstr>Problem Statement</vt:lpstr>
      <vt:lpstr>Target Audience</vt:lpstr>
      <vt:lpstr>Existing Solutions</vt:lpstr>
      <vt:lpstr>Gaps &amp; Opportunities</vt:lpstr>
      <vt:lpstr>Your Solution</vt:lpstr>
      <vt:lpstr>Key Features</vt:lpstr>
      <vt:lpstr>System Architecture</vt:lpstr>
      <vt:lpstr>Tech Stack</vt:lpstr>
      <vt:lpstr>Workflow</vt:lpstr>
      <vt:lpstr>Impact</vt:lpstr>
      <vt:lpstr>Future Scope</vt:lpstr>
      <vt:lpstr>Team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Pranav</dc:creator>
  <cp:lastModifiedBy>DEVANG</cp:lastModifiedBy>
  <cp:revision>23</cp:revision>
  <dcterms:created xsi:type="dcterms:W3CDTF">2026-04-04T11:36:02Z</dcterms:created>
  <dcterms:modified xsi:type="dcterms:W3CDTF">2026-04-06T09:19:42Z</dcterms:modified>
</cp:coreProperties>
</file>